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13cf3f0b5402a" /><Relationship Type="http://schemas.openxmlformats.org/officeDocument/2006/relationships/extended-properties" Target="/docProps/app.xml" Id="Rfd5ddfe9ead5428e" /><Relationship Type="http://schemas.openxmlformats.org/officeDocument/2006/relationships/officeDocument" Target="/ppt/presentation.xml" Id="Rca4b0b11fe4242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3641695db4169"/>
  </p:sldMasterIdLst>
  <p:notesMasterIdLst>
    <p:notesMasterId xmlns:r="http://schemas.openxmlformats.org/officeDocument/2006/relationships" r:id="R527e81f716b841d5"/>
  </p:notesMasterIdLst>
  <p:sldIdLst>
    <p:sldId xmlns:r="http://schemas.openxmlformats.org/officeDocument/2006/relationships" id="256" r:id="R41f1d2ab294b4948"/>
    <p:sldId xmlns:r="http://schemas.openxmlformats.org/officeDocument/2006/relationships" id="257" r:id="R50931ae5fa554332"/>
    <p:sldId xmlns:r="http://schemas.openxmlformats.org/officeDocument/2006/relationships" id="258" r:id="R6fc3453597e347d6"/>
    <p:sldId xmlns:r="http://schemas.openxmlformats.org/officeDocument/2006/relationships" id="259" r:id="R9c86bfc1d1554c6e"/>
    <p:sldId xmlns:r="http://schemas.openxmlformats.org/officeDocument/2006/relationships" id="260" r:id="R3cc2ca625ecd4b03"/>
    <p:sldId xmlns:r="http://schemas.openxmlformats.org/officeDocument/2006/relationships" id="261" r:id="R2d0e3df6e5f2419c"/>
    <p:sldId xmlns:r="http://schemas.openxmlformats.org/officeDocument/2006/relationships" id="262" r:id="Ra5f3689249ba4ea5"/>
    <p:sldId xmlns:r="http://schemas.openxmlformats.org/officeDocument/2006/relationships" id="263" r:id="Rb1c91e189b9642c7"/>
    <p:sldId xmlns:r="http://schemas.openxmlformats.org/officeDocument/2006/relationships" id="264" r:id="Ra4d5cdc39a8742fe"/>
    <p:sldId xmlns:r="http://schemas.openxmlformats.org/officeDocument/2006/relationships" id="265" r:id="Rf6caa907645d4d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48b2c73cde4e8b" /><Relationship Type="http://schemas.openxmlformats.org/officeDocument/2006/relationships/slideMaster" Target="/ppt/slideMasters/slideMaster1.xml" Id="R0823641695db4169" /><Relationship Type="http://schemas.openxmlformats.org/officeDocument/2006/relationships/notesMaster" Target="/ppt/notesMasters/notesMaster1.xml" Id="R527e81f716b841d5" /><Relationship Type="http://schemas.openxmlformats.org/officeDocument/2006/relationships/presProps" Target="/ppt/presProps.xml" Id="Rfa3950f7de1f4008" /><Relationship Type="http://schemas.openxmlformats.org/officeDocument/2006/relationships/tableStyles" Target="/ppt/tableStyles.xml" Id="Rf0899307b24f49be" /><Relationship Type="http://schemas.openxmlformats.org/officeDocument/2006/relationships/slide" Target="/ppt/slides/slide1.xml" Id="R41f1d2ab294b4948" /><Relationship Type="http://schemas.openxmlformats.org/officeDocument/2006/relationships/slide" Target="/ppt/slides/slide2.xml" Id="R50931ae5fa554332" /><Relationship Type="http://schemas.openxmlformats.org/officeDocument/2006/relationships/slide" Target="/ppt/slides/slide3.xml" Id="R6fc3453597e347d6" /><Relationship Type="http://schemas.openxmlformats.org/officeDocument/2006/relationships/slide" Target="/ppt/slides/slide4.xml" Id="R9c86bfc1d1554c6e" /><Relationship Type="http://schemas.openxmlformats.org/officeDocument/2006/relationships/slide" Target="/ppt/slides/slide5.xml" Id="R3cc2ca625ecd4b03" /><Relationship Type="http://schemas.openxmlformats.org/officeDocument/2006/relationships/slide" Target="/ppt/slides/slide6.xml" Id="R2d0e3df6e5f2419c" /><Relationship Type="http://schemas.openxmlformats.org/officeDocument/2006/relationships/slide" Target="/ppt/slides/slide7.xml" Id="Ra5f3689249ba4ea5" /><Relationship Type="http://schemas.openxmlformats.org/officeDocument/2006/relationships/slide" Target="/ppt/slides/slide8.xml" Id="Rb1c91e189b9642c7" /><Relationship Type="http://schemas.openxmlformats.org/officeDocument/2006/relationships/slide" Target="/ppt/slides/slide9.xml" Id="Ra4d5cdc39a8742fe" /><Relationship Type="http://schemas.openxmlformats.org/officeDocument/2006/relationships/slide" Target="/ppt/slides/slide10.xml" Id="Rf6caa907645d4d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ac310f410e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a3f86edbc4e12" /><Relationship Type="http://schemas.openxmlformats.org/officeDocument/2006/relationships/notesMaster" Target="/ppt/notesMasters/notesMaster1.xml" Id="Rf85a9fc1906944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bc7995520a4f61" /><Relationship Type="http://schemas.openxmlformats.org/officeDocument/2006/relationships/notesMaster" Target="/ppt/notesMasters/notesMaster1.xml" Id="Rb78a9495179a4d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d74cc19ce744ea" /><Relationship Type="http://schemas.openxmlformats.org/officeDocument/2006/relationships/notesMaster" Target="/ppt/notesMasters/notesMaster1.xml" Id="R7596bf47104047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34ce2d8944da8" /><Relationship Type="http://schemas.openxmlformats.org/officeDocument/2006/relationships/notesMaster" Target="/ppt/notesMasters/notesMaster1.xml" Id="Rcf6ece688998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9b9ae8ccb54254" /><Relationship Type="http://schemas.openxmlformats.org/officeDocument/2006/relationships/notesMaster" Target="/ppt/notesMasters/notesMaster1.xml" Id="R13dcd5ccc506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9edc203d849a9" /><Relationship Type="http://schemas.openxmlformats.org/officeDocument/2006/relationships/notesMaster" Target="/ppt/notesMasters/notesMaster1.xml" Id="R68efb997ec0548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ab76b1fc184f5b" /><Relationship Type="http://schemas.openxmlformats.org/officeDocument/2006/relationships/notesMaster" Target="/ppt/notesMasters/notesMaster1.xml" Id="R675e9e581e7a4c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73acf39f3e4a5d" /><Relationship Type="http://schemas.openxmlformats.org/officeDocument/2006/relationships/notesMaster" Target="/ppt/notesMasters/notesMaster1.xml" Id="R0e47987653cd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93ec9980f64376" /><Relationship Type="http://schemas.openxmlformats.org/officeDocument/2006/relationships/notesMaster" Target="/ppt/notesMasters/notesMaster1.xml" Id="R718cd792ef8a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56f33c56624ec2" /><Relationship Type="http://schemas.openxmlformats.org/officeDocument/2006/relationships/notesMaster" Target="/ppt/notesMasters/notesMaster1.xml" Id="Rbe9d79212f144a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project purpose and channel scope</a:t>
            </a:r>
          </a:p>
          <a:p xmlns:a="http://schemas.openxmlformats.org/drawingml/2006/main">
            <a:r>
              <a:t>- presentation-assets/farmer-market-hero.png — generated editorial hero image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farmers need an evidence-backed crop price and broker-offer comparison</a:t>
            </a:r>
          </a:p>
          <a:p xmlns:a="http://schemas.openxmlformats.org/drawingml/2006/main">
            <a:r>
              <a:t>- docs/user-journey.md — fair farm-gate price precedes broker comparison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docs/user-journey.md — valuation output, broker comparison and export branch</a:t>
            </a:r>
          </a:p>
          <a:p xmlns:a="http://schemas.openxmlformats.org/drawingml/2006/main">
            <a:r>
              <a:t>- docs/design-principles.md — evidence-based pricing and dual monetization paths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docs/user-journey.md — full cross-channel journey and verification feedback loop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— normalized evidence sources and valuation service</a:t>
            </a:r>
          </a:p>
          <a:p xmlns:a="http://schemas.openxmlformats.org/drawingml/2006/main">
            <a:r>
              <a:t>- docs/user-journey.md — weighted median, confidence score and price range</a:t>
            </a:r>
          </a:p>
          <a:p xmlns:a="http://schemas.openxmlformats.org/drawingml/2006/main">
            <a:r>
              <a:t>- ai-data/README.md — market evidence aggregation and provenance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docs/user-journey.md — broker and export branches</a:t>
            </a:r>
          </a:p>
          <a:p xmlns:a="http://schemas.openxmlformats.org/drawingml/2006/main">
            <a:r>
              <a:t>- docs/design-principles.md — dual monetization paths</a:t>
            </a:r>
          </a:p>
          <a:p xmlns:a="http://schemas.openxmlformats.org/drawingml/2006/main">
            <a:r>
              <a:t>- docs/tech-stack.md — AI observation limitations and trusted compliance ownership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docs/design-principles.md — multi-channel access and explicit photo limitation for USSD</a:t>
            </a:r>
          </a:p>
          <a:p xmlns:a="http://schemas.openxmlformats.org/drawingml/2006/main">
            <a:r>
              <a:t>- docs/architecture.md — channels converge through the API Gateway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docs/tech-stack.md — Gemini visual evidence limits and deterministic application ownership</a:t>
            </a:r>
          </a:p>
          <a:p xmlns:a="http://schemas.openxmlformats.org/drawingml/2006/main">
            <a:r>
              <a:t>- docs/architecture.md — AI service never declares final regulatory eligibility</a:t>
            </a:r>
          </a:p>
          <a:p xmlns:a="http://schemas.openxmlformats.org/drawingml/2006/main">
            <a:r>
              <a:t>- ai-data/src/standards/profiles.ts — versioned server-controlled visual profiles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TASKS.md — lane-by-lane completed and pending work</a:t>
            </a:r>
          </a:p>
          <a:p xmlns:a="http://schemas.openxmlformats.org/drawingml/2006/main">
            <a:r>
              <a:t>- docs/architecture.md — implemented AI/Data APIs and pending live valuation integration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docs/design-principles.md — continuous learning loop</a:t>
            </a:r>
          </a:p>
          <a:p xmlns:a="http://schemas.openxmlformats.org/drawingml/2006/main">
            <a:r>
              <a:t>- docs/user-journey.md — verified local and export outcomes return to the evidence database</a:t>
            </a:r>
          </a:p>
          <a:p xmlns:a="http://schemas.openxmlformats.org/drawingml/2006/main">
            <a:r>
              <a:t>- TASKS.md — remaining service integrations and production-readiness 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24061391b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5c1b9ad3b45df" /><Relationship Type="http://schemas.openxmlformats.org/officeDocument/2006/relationships/slideLayout" Target="/ppt/slideLayouts/slideLayout1.xml" Id="R725b8756e300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5b8756e300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f975a290a4f51" /><Relationship Type="http://schemas.openxmlformats.org/officeDocument/2006/relationships/image" Target="/ppt/media/image.png" Id="Rc6c62c3b510146df" /><Relationship Type="http://schemas.openxmlformats.org/officeDocument/2006/relationships/notesSlide" Target="/ppt/notesSlides/notesSlide1.xml" Id="R57e606c2b4b4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ff5eb39d74125" /><Relationship Type="http://schemas.openxmlformats.org/officeDocument/2006/relationships/notesSlide" Target="/ppt/notesSlides/notesSlide2.xml" Id="R2d92612741344d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cdca3040d4ab6" /><Relationship Type="http://schemas.openxmlformats.org/officeDocument/2006/relationships/notesSlide" Target="/ppt/notesSlides/notesSlide3.xml" Id="R03b884027b164e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52bfd159c4b8d" /><Relationship Type="http://schemas.openxmlformats.org/officeDocument/2006/relationships/notesSlide" Target="/ppt/notesSlides/notesSlide4.xml" Id="Re03f1538368348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eb92cc3884780" /><Relationship Type="http://schemas.openxmlformats.org/officeDocument/2006/relationships/notesSlide" Target="/ppt/notesSlides/notesSlide5.xml" Id="R5bc99731bb8645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9a65f40a146c9" /><Relationship Type="http://schemas.openxmlformats.org/officeDocument/2006/relationships/notesSlide" Target="/ppt/notesSlides/notesSlide6.xml" Id="R6432f48d459b4c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616f3b3734e3a" /><Relationship Type="http://schemas.openxmlformats.org/officeDocument/2006/relationships/notesSlide" Target="/ppt/notesSlides/notesSlide7.xml" Id="R20ef09f61e714c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5ed6295c54b80" /><Relationship Type="http://schemas.openxmlformats.org/officeDocument/2006/relationships/notesSlide" Target="/ppt/notesSlides/notesSlide8.xml" Id="R8d82a662c7e242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9374e67f44df4" /><Relationship Type="http://schemas.openxmlformats.org/officeDocument/2006/relationships/notesSlide" Target="/ppt/notesSlides/notesSlide9.xml" Id="Re2dbbaf8ef964a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4066ea7c4fbd" /><Relationship Type="http://schemas.openxmlformats.org/officeDocument/2006/relationships/notesSlide" Target="/ppt/notesSlides/notesSlide10.xml" Id="R60ec1910351345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62c3b510146d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B3C3E-6CBA-4D7D-BE3A-709490E1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12291-14FB-4AEA-A6CB-0A658FC5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A56A"/>
                </a:solidFill>
              </a:defRPr>
            </a:pPr>
            <a:r>
              <a:rPr sz="1425" b="1">
                <a:solidFill>
                  <a:srgbClr val="2FA56A"/>
                </a:solidFill>
              </a:rPr>
              <a:t>JUABEI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BD045-97FA-4F19-93E2-C620E7E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 fair price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shouldn’t depend on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who speaks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5B659-54DA-4256-A4B2-7AFD9FE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5DD"/>
                </a:solidFill>
              </a:defRPr>
            </a:pPr>
            <a:r>
              <a:rPr sz="1800" b="0">
                <a:solidFill>
                  <a:srgbClr val="D8E5DD"/>
                </a:solidFill>
              </a:rPr>
              <a:t>Evidence-backed crop valuation and export readiness—accessible by PWA, USSD and WhatsApp.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295FA-C31D-48C0-B78C-CC292A9D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C9BF"/>
                </a:solidFill>
              </a:defRPr>
            </a:pPr>
            <a:r>
              <a:rPr sz="1050" b="1">
                <a:solidFill>
                  <a:srgbClr val="B9C9BF"/>
                </a:solidFill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77552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B4EE7-8C59-436A-95CE-1B31F158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THE MOMENT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ADAFA-0FDF-4F1B-A7A3-C46C9A0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9906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512"/>
                </a:solidFill>
              </a:defRPr>
            </a:pPr>
            <a:r>
              <a:rPr sz="5100" b="1">
                <a:solidFill>
                  <a:srgbClr val="111512"/>
                </a:solidFill>
              </a:rPr>
              <a:t>The crop is ready.</a:t>
            </a:r>
          </a:p>
          <a:p xmlns:a="http://schemas.openxmlformats.org/drawingml/2006/main">
            <a:pPr algn="l">
              <a:defRPr sz="5100" b="1">
                <a:solidFill>
                  <a:srgbClr val="111512"/>
                </a:solidFill>
              </a:defRPr>
            </a:pPr>
            <a:r>
              <a:rPr sz="5100" b="1">
                <a:solidFill>
                  <a:srgbClr val="111512"/>
                </a:solidFill>
              </a:rPr>
              <a:t>The offer is immediate.</a:t>
            </a:r>
          </a:p>
          <a:p xmlns:a="http://schemas.openxmlformats.org/drawingml/2006/main">
            <a:pPr algn="l">
              <a:defRPr sz="5100" b="1">
                <a:solidFill>
                  <a:srgbClr val="111512"/>
                </a:solidFill>
              </a:defRPr>
            </a:pPr>
            <a:r>
              <a:rPr sz="5100" b="1">
                <a:solidFill>
                  <a:srgbClr val="111512"/>
                </a:solidFill>
              </a:rPr>
              <a:t>The evidence is missing.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4E306-CAFD-4C25-928F-031EE047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F114-6A88-4236-BF5F-DCBAF6E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6A64"/>
                </a:solidFill>
              </a:defRPr>
            </a:pPr>
            <a:r>
              <a:rPr sz="2100" b="0">
                <a:solidFill>
                  <a:srgbClr val="626A64"/>
                </a:solidFill>
              </a:rPr>
              <a:t>Without a trusted reference point, a farmer must negotiate from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858BC-1013-47C6-9F95-0A1A1F53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6138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2D5B9-4634-4BBB-8D29-5C591F44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THE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01968-4531-46CA-9660-D1DF280F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JuaBei turns uncertainty into three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D621C-197E-4643-B79A-FF44736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D4F4E-999F-4111-BFD9-6E0D47A0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59163-6719-44FC-B4ED-90990F4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2515A-F4CF-4DB6-847C-D09B75A9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D5138-E39B-43B8-B745-43BE22F1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Know the fair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D83EF-D360-4CF4-B08D-6CAA503D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933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A weighted price range, estimated value and confidence score grounded in multiple evidence 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6CD48-93E2-41A6-B55A-3572448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A3457-DB47-49E5-BCB7-B527D4A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A4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B66D3-9044-41D8-BAE5-BE8776F6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Judge the offer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36825-CCC6-4A23-84C0-35A1628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2933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A broker offer is classified above, within or below the range—with practical negotiation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EF5A8-785D-409A-83C3-FD6CDFD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B47F1-118D-4E23-8CBE-AC020D5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AA609-D949-4AC9-A725-E02D0859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Choose the market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E0949-0EC3-41BE-B4A9-2577E368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2933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The same starting point supports a local sale or an export-readiness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268672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9AA9D-888A-4B2B-ABB4-98FC456A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THE FARMER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58859-8997-4936-AD10-19CC181E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One flow turns crop details into trusted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65BC6-AC48-45D1-A086-DC11F7BF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AAAF3-EB69-4B1F-AB67-860CB8E1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93972-754B-4914-A9F6-A126BB3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72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E5909-12A6-42B6-90D9-10CC9C76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72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C3DD1-D5D8-490F-A741-E39267C1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7245"/>
                </a:solidFill>
              </a:defRPr>
            </a:pPr>
            <a:r>
              <a:rPr sz="1875" b="1">
                <a:solidFill>
                  <a:srgbClr val="17724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4E177-B3F3-4BE0-B7F2-3FCF09C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Enter crop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DB80D-7707-4F3C-87CA-6AA0FDD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133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4"/>
                </a:solidFill>
              </a:defRPr>
            </a:pPr>
            <a:r>
              <a:rPr sz="1425" b="0">
                <a:solidFill>
                  <a:srgbClr val="626A64"/>
                </a:solidFill>
              </a:rPr>
              <a:t>Crop · variety · quantity · county · grade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55865-4162-4DFC-A926-A7E8DA6B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72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5ABF0-D9D4-493E-A0F0-F56524B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7245"/>
                </a:solidFill>
              </a:defRPr>
            </a:pPr>
            <a:r>
              <a:rPr sz="1875" b="1">
                <a:solidFill>
                  <a:srgbClr val="17724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0596F-404F-4295-A97F-7954A07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See fair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101DA-DB3C-45C3-B3F3-68B697B8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2133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4"/>
                </a:solidFill>
              </a:defRPr>
            </a:pPr>
            <a:r>
              <a:rPr sz="1425" b="0">
                <a:solidFill>
                  <a:srgbClr val="626A64"/>
                </a:solidFill>
              </a:rPr>
              <a:t>Range · confidence ·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BFC00-8A56-43A7-820C-4A796CF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72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A1C35-16CA-4427-B84F-DDC7D23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7245"/>
                </a:solidFill>
              </a:defRPr>
            </a:pPr>
            <a:r>
              <a:rPr sz="1875" b="1">
                <a:solidFill>
                  <a:srgbClr val="17724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A8065-FAA1-4890-B7E0-99C768D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Choose a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D77A8-A440-4438-B83F-83867637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2133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4"/>
                </a:solidFill>
              </a:defRPr>
            </a:pPr>
            <a:r>
              <a:rPr sz="1425" b="0">
                <a:solidFill>
                  <a:srgbClr val="626A64"/>
                </a:solidFill>
              </a:rPr>
              <a:t>Compare broker offer or assess export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780C2-F57C-4D2C-AC6F-2B8D2EA4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28575">
            <a:solidFill>
              <a:srgbClr val="1772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25DF7-6058-4091-B117-73A67E8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EEF0E-D755-4FEA-9BC6-6E0DAAE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Verify the sale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05386-DB5D-444A-A5F4-A429F0C3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133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4"/>
                </a:solidFill>
              </a:defRPr>
            </a:pPr>
            <a:r>
              <a:rPr sz="1425" b="0">
                <a:solidFill>
                  <a:srgbClr val="626A64"/>
                </a:solidFill>
              </a:rPr>
              <a:t>Validated outcome returns to the evidence base</a:t>
            </a:r>
          </a:p>
        </p:txBody>
      </p:sp>
    </p:spTree>
    <p:extLst>
      <p:ext uri="{BB962C8B-B14F-4D97-AF65-F5344CB8AC3E}">
        <p14:creationId xmlns:p14="http://schemas.microsoft.com/office/powerpoint/2010/main" val="1076293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9018C4-428B-4D36-93E3-2A213E44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THE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1E2EE-4376-44F0-A044-2EE06BE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A fair range is assembled from traceable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09F97-7A1C-4244-837B-215D48DE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7DC6-3D17-4E14-8DC6-D345925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B3C43-26A4-47D5-B27E-A66BEB64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861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BB11B-6464-408D-8279-62C0A8C4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37E22-98A2-477C-9FFC-83C130E5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861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B20E1-5B4D-474D-AEC4-5DDD251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E02B7-371A-4C2F-AC16-2805B6EA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8150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7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E849-3A1A-4904-9C74-21F69E4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72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17843-3658-4F2E-98B4-045FD72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FF8B8-14E0-47A2-AD54-48BBCB4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2FE63-EF95-4C5E-938F-0355EBA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KAMIS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DB06E-B5F2-4FC7-9EE3-1D59500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Market price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58DD1-7857-42A3-B57F-72E61136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FA0C9-B3F4-4703-89FB-14D9955F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893FD-1C29-4D1D-BC9C-200C308C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Cooperatives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D25E7-CD5F-4E09-A27A-4FA17E1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Local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ABBE4-DABA-4EC5-BC5A-3588BE9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F50AC-22B3-4692-9BA1-6D1C529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4038F-F7F6-49D3-845E-BDDF98E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Verified sales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A92BA-89D0-4670-ADA8-2F8D5F75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Confirmed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5782E-0A58-4E07-85CD-339BB7CC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343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9C9A5-939D-4295-B9D1-3C96BEA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631E8-3D4D-4D86-BB06-33A36B47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Market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576F2-0DE9-451E-84A7-1FA99B5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Historical + global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6CD43-3285-437E-99DA-0B5E4C7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00625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B857C-FF55-4B4A-8F87-78F5985D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Weighted price range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640F2-A2F9-416B-8F5A-E04D492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388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EFE4"/>
                </a:solidFill>
              </a:defRPr>
            </a:pPr>
            <a:r>
              <a:rPr sz="1350" b="0">
                <a:solidFill>
                  <a:srgbClr val="DDEFE4"/>
                </a:solidFill>
              </a:rPr>
              <a:t>Median · confidence · provenance</a:t>
            </a:r>
          </a:p>
        </p:txBody>
      </p:sp>
    </p:spTree>
    <p:extLst>
      <p:ext uri="{BB962C8B-B14F-4D97-AF65-F5344CB8AC3E}">
        <p14:creationId xmlns:p14="http://schemas.microsoft.com/office/powerpoint/2010/main" val="559566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6F715-C076-4DA1-B86E-EFFFCAB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THE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16993-4DCF-4769-8EC9-728C4ECB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One valuation opens two practical routes to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F2D4A-4CD3-424E-B0CC-6E94322C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0D4D4-28E1-415D-9E16-71139DFF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7CE6D-0FF6-4660-BED2-9762C93F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578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97A7F-6957-4139-89A7-C6770D90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715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BAD7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8CECC-32B5-45BE-B545-9EDBB13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A431"/>
                </a:solidFill>
              </a:defRPr>
            </a:pPr>
            <a:r>
              <a:rPr sz="1200" b="1">
                <a:solidFill>
                  <a:srgbClr val="DFA431"/>
                </a:solidFill>
              </a:rPr>
              <a:t>LOCAL 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A5B93-EFB2-46E3-BB23-9C9CD491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512"/>
                </a:solidFill>
              </a:defRPr>
            </a:pPr>
            <a:r>
              <a:rPr sz="2550" b="1">
                <a:solidFill>
                  <a:srgbClr val="111512"/>
                </a:solidFill>
              </a:rPr>
              <a:t>Compare the broker 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9FF0D-CECB-4E14-8AC6-E60D9E9C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A64"/>
                </a:solidFill>
              </a:defRPr>
            </a:pPr>
            <a:r>
              <a:rPr sz="1725" b="0">
                <a:solidFill>
                  <a:srgbClr val="626A64"/>
                </a:solidFill>
              </a:rPr>
              <a:t>Above, within or below range</a:t>
            </a:r>
          </a:p>
          <a:p xmlns:a="http://schemas.openxmlformats.org/drawingml/2006/main">
            <a:pPr algn="l">
              <a:defRPr sz="1725" b="0">
                <a:solidFill>
                  <a:srgbClr val="626A64"/>
                </a:solidFill>
              </a:defRPr>
            </a:pPr>
            <a:r>
              <a:rPr sz="1725" b="0">
                <a:solidFill>
                  <a:srgbClr val="626A64"/>
                </a:solidFill>
              </a:rPr>
              <a:t>Negotiation guidance</a:t>
            </a:r>
          </a:p>
          <a:p xmlns:a="http://schemas.openxmlformats.org/drawingml/2006/main">
            <a:pPr algn="l">
              <a:defRPr sz="1725" b="0">
                <a:solidFill>
                  <a:srgbClr val="626A64"/>
                </a:solidFill>
              </a:defRPr>
            </a:pPr>
            <a:r>
              <a:rPr sz="1725" b="0">
                <a:solidFill>
                  <a:srgbClr val="626A64"/>
                </a:solidFill>
              </a:rPr>
              <a:t>Verified transaction captured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3C732-9818-4362-9922-58A9522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EXPORT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E7015-93A9-487F-A703-1C940B93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512"/>
                </a:solidFill>
              </a:defRPr>
            </a:pPr>
            <a:r>
              <a:rPr sz="2550" b="1">
                <a:solidFill>
                  <a:srgbClr val="111512"/>
                </a:solidFill>
              </a:rPr>
              <a:t>Assess readiness responsibly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31371-0C20-4195-8191-9EEDE45E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A64"/>
                </a:solidFill>
              </a:defRPr>
            </a:pPr>
            <a:r>
              <a:rPr sz="1725" b="0">
                <a:solidFill>
                  <a:srgbClr val="626A64"/>
                </a:solidFill>
              </a:rPr>
              <a:t>Photo-based visual observations</a:t>
            </a:r>
          </a:p>
          <a:p xmlns:a="http://schemas.openxmlformats.org/drawingml/2006/main">
            <a:pPr algn="l">
              <a:defRPr sz="1725" b="0">
                <a:solidFill>
                  <a:srgbClr val="626A64"/>
                </a:solidFill>
              </a:defRPr>
            </a:pPr>
            <a:r>
              <a:rPr sz="1725" b="0">
                <a:solidFill>
                  <a:srgbClr val="626A64"/>
                </a:solidFill>
              </a:rPr>
              <a:t>Trusted compliance rules</a:t>
            </a:r>
          </a:p>
          <a:p xmlns:a="http://schemas.openxmlformats.org/drawingml/2006/main">
            <a:pPr algn="l">
              <a:defRPr sz="1725" b="0">
                <a:solidFill>
                  <a:srgbClr val="626A64"/>
                </a:solidFill>
              </a:defRPr>
            </a:pPr>
            <a:r>
              <a:rPr sz="1725" b="0">
                <a:solidFill>
                  <a:srgbClr val="626A64"/>
                </a:solidFill>
              </a:rPr>
              <a:t>International price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F508D-B35D-4516-978B-29FC093B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53000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2AF40-EF75-46B5-BAF6-B2D9DAF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339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FAIR RANGE</a:t>
            </a:r>
          </a:p>
        </p:txBody>
      </p:sp>
    </p:spTree>
    <p:extLst>
      <p:ext uri="{BB962C8B-B14F-4D97-AF65-F5344CB8AC3E}">
        <p14:creationId xmlns:p14="http://schemas.microsoft.com/office/powerpoint/2010/main" val="1235476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68999-ADF4-4FCE-9CDE-F4119F3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INCLUSIVE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6E86F-B0DB-4ED1-B0F3-894D1B7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Access follows the farmer’s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A4DE4-A35A-4993-BBFC-C72B769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8740E-8EBB-4C45-A6EA-D919A88F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55E62-B1D6-46B2-9FAC-F0E4AB0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7245"/>
                </a:solidFill>
              </a:defRPr>
            </a:pPr>
            <a:r>
              <a:rPr sz="3600" b="1">
                <a:solidFill>
                  <a:srgbClr val="177245"/>
                </a:solidFill>
              </a:rPr>
              <a:t>PWA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8D951-ABA7-4E56-9780-5AA591E1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Full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27CE5-94B5-4525-A044-22FC7ED8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64"/>
                </a:solidFill>
              </a:defRPr>
            </a:pPr>
            <a:r>
              <a:rPr sz="1575" b="0">
                <a:solidFill>
                  <a:srgbClr val="626A64"/>
                </a:solidFill>
              </a:rPr>
              <a:t>Valuation, broker comparison and photo-based export assessment.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C31FC-4EEB-4517-955F-6E1ED9D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998B2-EABC-4E32-83BA-86C5FE3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FA431"/>
                </a:solidFill>
              </a:defRPr>
            </a:pPr>
            <a:r>
              <a:rPr sz="3600" b="1">
                <a:solidFill>
                  <a:srgbClr val="DFA431"/>
                </a:solidFill>
              </a:rPr>
              <a:t>USSD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59060-7A95-4CE3-A590-0BB6993E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71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Works without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FCA91-E703-4090-B6C3-28D2BFAC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64"/>
                </a:solidFill>
              </a:defRPr>
            </a:pPr>
            <a:r>
              <a:rPr sz="1575" b="0">
                <a:solidFill>
                  <a:srgbClr val="626A64"/>
                </a:solidFill>
              </a:rPr>
              <a:t>Core valuation and broker comparison on a basic phone.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5D52E-E6F8-4A82-8B0F-E1E11F10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292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E01C6-376E-479E-A5F9-CEF63A4C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7245"/>
                </a:solidFill>
              </a:defRPr>
            </a:pPr>
            <a:r>
              <a:rPr sz="3600" b="1">
                <a:solidFill>
                  <a:srgbClr val="177245"/>
                </a:solidFill>
              </a:rPr>
              <a:t>WhatsApp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F86C6-A705-4D68-AA91-52A16E8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512"/>
                </a:solidFill>
              </a:defRPr>
            </a:pPr>
            <a:r>
              <a:rPr sz="1950" b="1">
                <a:solidFill>
                  <a:srgbClr val="111512"/>
                </a:solidFill>
              </a:rPr>
              <a:t>Familiar conversation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6D2FD-9D1E-4C85-83AD-8EFA8CAE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A64"/>
                </a:solidFill>
              </a:defRPr>
            </a:pPr>
            <a:r>
              <a:rPr sz="1575" b="0">
                <a:solidFill>
                  <a:srgbClr val="626A64"/>
                </a:solidFill>
              </a:rPr>
              <a:t>Guided access, updates and verification touchpoints.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4556A-A2B3-4519-B266-BE52F49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292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A5522-51FE-495F-B4F9-14C6617A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</a:defRPr>
            </a:pPr>
            <a:r>
              <a:rPr sz="2025" b="1">
                <a:solidFill>
                  <a:srgbClr val="111512"/>
                </a:solidFill>
              </a:rPr>
              <a:t>All channels converge on the same valuation contract and evidence base.</a:t>
            </a:r>
          </a:p>
        </p:txBody>
      </p:sp>
    </p:spTree>
    <p:extLst>
      <p:ext uri="{BB962C8B-B14F-4D97-AF65-F5344CB8AC3E}">
        <p14:creationId xmlns:p14="http://schemas.microsoft.com/office/powerpoint/2010/main" val="2069975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AE022-11D2-4157-9B75-155034A5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TRUST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79278-467C-472F-BC64-08988CC0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AI observes; trusted rules decide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473FD-327C-4386-872B-B3C66A44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B013D-F720-423C-B002-A4CC750E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65F5-48C7-4E63-A4CD-F267FA7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22784-4B9E-41AE-ABD7-8E668709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F184D-10CF-4426-946B-E9D1041C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4AAEC-7357-4CEA-AD34-3417176E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37384-6552-4CB3-A2D6-0CB0D75A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ABEFC-9C29-43E7-89F9-1075FE03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Crop photos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3D8B9-23C8-4E0F-BF95-4CB0AF1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Farmer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FB4E0-6D64-4B57-A23C-DA3A1CE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0B816-8203-4702-8B6F-1C981F88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53646-45FD-440C-9946-735568D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2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AI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93154-9549-49A9-BF4A-5B45994F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099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Visible traits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D5AA6-0BBA-408C-8805-9B82AF0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8CC87-19CE-4C95-9AC3-C27F31A4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2A3D5-143D-4B2B-8805-00FBC93E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Trusted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7C6CC-4C2F-4604-9532-9FB188E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99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Compliance + pricing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52288-B0CB-4209-A978-CDC10A9A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1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35451-11AF-4494-ABB4-9BB6630E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CB184-D486-4DF1-B74C-C2A4998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</a:defRPr>
            </a:pPr>
            <a:r>
              <a:rPr sz="2100" b="1">
                <a:solidFill>
                  <a:srgbClr val="111512"/>
                </a:solidFill>
              </a:rPr>
              <a:t>Human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60E81-6824-4FDF-B732-1ACB8B4C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099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4"/>
                </a:solidFill>
              </a:defRPr>
            </a:pPr>
            <a:r>
              <a:rPr sz="1500" b="0">
                <a:solidFill>
                  <a:srgbClr val="626A64"/>
                </a:solidFill>
              </a:rPr>
              <a:t>Final accountability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2F710-528C-4867-AA11-14FC47C0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43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512"/>
                </a:solidFill>
              </a:defRPr>
            </a:pPr>
            <a:r>
              <a:rPr sz="2250" b="1">
                <a:solidFill>
                  <a:srgbClr val="111512"/>
                </a:solidFill>
              </a:rPr>
              <a:t>The model never declares regulatory eligibility, residue status, certification or traceability.</a:t>
            </a:r>
          </a:p>
        </p:txBody>
      </p:sp>
    </p:spTree>
    <p:extLst>
      <p:ext uri="{BB962C8B-B14F-4D97-AF65-F5344CB8AC3E}">
        <p14:creationId xmlns:p14="http://schemas.microsoft.com/office/powerpoint/2010/main" val="874371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076DA-B4F8-4464-BEE1-C5701BE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245"/>
                </a:solidFill>
              </a:defRPr>
            </a:pPr>
            <a:r>
              <a:rPr sz="1275" b="1">
                <a:solidFill>
                  <a:srgbClr val="177245"/>
                </a:solidFill>
              </a:rPr>
              <a:t>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DEDE-478C-45F4-8342-4B978F5C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</a:defRPr>
            </a:pPr>
            <a:r>
              <a:rPr sz="3600" b="1">
                <a:solidFill>
                  <a:srgbClr val="111512"/>
                </a:solidFill>
              </a:rPr>
              <a:t>Two integrations unlock the end-to-end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25ADA-8D6B-4859-B350-0F408B6D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E40D6-42A5-47E7-A3B8-81B2D35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64"/>
                </a:solidFill>
              </a:defRPr>
            </a:pPr>
            <a:r>
              <a:rPr sz="1050" b="0">
                <a:solidFill>
                  <a:srgbClr val="626A6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1AF45-661B-41BF-B15E-2087CE04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WORKING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FB381-690B-4CAC-B7E6-59C53A3B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A431"/>
                </a:solidFill>
              </a:defRPr>
            </a:pPr>
            <a:r>
              <a:rPr sz="1200" b="1">
                <a:solidFill>
                  <a:srgbClr val="DFA431"/>
                </a:solidFill>
              </a:rPr>
              <a:t>NEXT TO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5E718-8568-43EA-A9BB-BEDB112C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0CE2E-C8B9-4DF4-831B-31881814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D09D2-F4C8-4966-8C6E-BFB6D60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PWA, USSD and WhatsApp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8B7B1-CE8B-45F0-AB2F-69298C7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DC5DB-75D3-4734-8544-C06E4F3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55F1C-BB6B-463C-B0F6-5DBBF0CA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AI visual assessment + 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E0FFC-7B74-417E-A93E-E5F1759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574C9-46D2-45C4-B6C8-5219C2E9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E298B-ADC2-462D-8E4B-4817073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Market evidence normalization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F3F42-C5A9-4431-A9D8-521E921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A7105-2730-4E62-8125-8EDBD46D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41BEB-991D-4C75-8541-A78591A8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Transaction verification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91E81-F0A3-4257-92A7-6A9338D1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DC416-EF31-4626-9DE3-0C08D769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558E1-450B-4C7B-ADF8-BD9C59A2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Notification delivery persistence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1E8D8-1D8C-405E-A1B2-68F5666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A4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AB0D5-E2D5-457F-8596-D01F929D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Connect valuation service to live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F09F2-2041-491A-A787-69F38AB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A4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DA625-F390-4F55-8F16-59D0652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Complete export assessment orchestration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143FB-7275-47D4-AB88-DAC1DF5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A43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ED131-2869-4556-8BB2-2E1208B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Add repository CI and contract-drift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FEEC4-5289-4E6C-A462-6D42B9F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A4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5F2B7-0994-41AB-94B6-47A16AC9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</a:defRPr>
            </a:pPr>
            <a:r>
              <a:rPr sz="1650" b="1">
                <a:solidFill>
                  <a:srgbClr val="111512"/>
                </a:solidFill>
              </a:rPr>
              <a:t>Configure production secrets and provider acceptance</a:t>
            </a:r>
          </a:p>
        </p:txBody>
      </p:sp>
    </p:spTree>
    <p:extLst>
      <p:ext uri="{BB962C8B-B14F-4D97-AF65-F5344CB8AC3E}">
        <p14:creationId xmlns:p14="http://schemas.microsoft.com/office/powerpoint/2010/main" val="2006313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C3A23-3F23-4883-8197-85A1B82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56A"/>
                </a:solidFill>
              </a:defRPr>
            </a:pPr>
            <a:r>
              <a:rPr sz="1275" b="1">
                <a:solidFill>
                  <a:srgbClr val="2FA56A"/>
                </a:solidFill>
              </a:rPr>
              <a:t>THE COMPOUNDING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70D08-DF0F-42AD-BC82-9DAC6C09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95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Every verified sale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makes the next price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fairer.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B85AD-403F-4A55-8951-560CC704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04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630B7-9705-4ACB-9039-22007063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5DD"/>
                </a:solidFill>
              </a:defRPr>
            </a:pPr>
            <a:r>
              <a:rPr sz="2100" b="0">
                <a:solidFill>
                  <a:srgbClr val="D8E5DD"/>
                </a:solidFill>
              </a:rPr>
              <a:t>Finish the two service integrations. Pilot the full loop. Turn market evidence into farmer bargaining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D0118-8B43-4C6C-B1F0-FB39E3D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A56A"/>
                </a:solidFill>
              </a:defRPr>
            </a:pPr>
            <a:r>
              <a:rPr sz="1125" b="1">
                <a:solidFill>
                  <a:srgbClr val="2FA56A"/>
                </a:solidFill>
              </a:rPr>
              <a:t>JUABEI</a:t>
            </a:r>
          </a:p>
        </p:txBody>
      </p:sp>
    </p:spTree>
    <p:extLst>
      <p:ext uri="{BB962C8B-B14F-4D97-AF65-F5344CB8AC3E}">
        <p14:creationId xmlns:p14="http://schemas.microsoft.com/office/powerpoint/2010/main" val="1342533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2026-07-25T23:51:45.9660000Z</dcterms:created>
  <dcterms:modified xsi:type="dcterms:W3CDTF">2026-07-25T23:51:45.9660000Z</dcterms:modified>
</coreProperties>
</file>